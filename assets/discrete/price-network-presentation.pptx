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6689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" y="3383280"/>
            <a:ext cx="896112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502920"/>
            <a:ext cx="6217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Item-Level Price</a:t>
            </a:r>
            <a:endParaRPr lang="en-US" sz="3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Co-Movement Network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84048" y="233172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E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CPI Data from Pakistan Bureau of Statistics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E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2023 – Mar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75120" y="502920"/>
            <a:ext cx="2194560" cy="2514600"/>
          </a:xfrm>
          <a:prstGeom prst="rect">
            <a:avLst/>
          </a:prstGeom>
          <a:solidFill>
            <a:srgbClr val="141414"/>
          </a:solidFill>
          <a:ln w="9525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75120" y="62179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0" y="10058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0" y="126187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75120" y="149047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75120" y="1746504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75120" y="197510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75120" y="2231136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years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75120" y="245973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31,212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75120" y="271576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" y="352044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Fatima Tehreem  |  Roll No: 25i-0565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Rameen Azhar  |  Roll No:  25i-0586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Usman Khan |  Roll No:  25i-0592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92608" y="118872"/>
            <a:ext cx="1463040" cy="25603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92608" y="1188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92608" y="822960"/>
            <a:ext cx="8558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does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92608" y="1371600"/>
            <a:ext cx="8558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theory applied to real PBS consumer price data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2608" y="1737360"/>
            <a:ext cx="2743200" cy="306324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2608" y="184708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978408" y="2432304"/>
            <a:ext cx="13716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" y="24871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PBS Data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" y="2907792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F0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31,212 price records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F0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items · 17 cities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F0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2023 – Mar 2026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36976" y="1737360"/>
            <a:ext cx="2743200" cy="30632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36976" y="184708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3922776" y="2432304"/>
            <a:ext cx="13716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28416" y="24871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Theory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28416" y="2907792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F0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= nodes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F0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 → edges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F0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by city count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81344" y="1737360"/>
            <a:ext cx="2743200" cy="3063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81344" y="184708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6867144" y="2432304"/>
            <a:ext cx="13716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72784" y="24871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Analysis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72784" y="2907792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F0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· Closeness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F0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Betweenness centrality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F0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comparison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2608" y="4828032"/>
            <a:ext cx="8558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92608" y="118872"/>
            <a:ext cx="1463040" cy="25603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92608" y="1188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92608" y="822960"/>
            <a:ext cx="8558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5 steps from raw price data to network insights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95528" y="1691640"/>
            <a:ext cx="731520" cy="731520"/>
          </a:xfrm>
          <a:prstGeom prst="ellipse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95528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92608" y="2542032"/>
            <a:ext cx="1719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Clean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" y="2880360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31,212 rows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336 missing filled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29968" y="2057400"/>
            <a:ext cx="109728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32888" y="1691640"/>
            <a:ext cx="731520" cy="73152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32888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29968" y="2542032"/>
            <a:ext cx="1719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Vectors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29968" y="2880360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monthly deltas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item × city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67328" y="2057400"/>
            <a:ext cx="109728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270248" y="1691640"/>
            <a:ext cx="731520" cy="7315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70248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67328" y="2542032"/>
            <a:ext cx="1719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67328" y="2880360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2,016 pairs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17 cities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04688" y="2057400"/>
            <a:ext cx="109728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07608" y="1691640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07608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04688" y="2542032"/>
            <a:ext cx="1719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Graphs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04688" y="2880360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if N(i,j) ≥ K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τ=0.6, K=3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242048" y="2057400"/>
            <a:ext cx="109728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744968" y="1691640"/>
            <a:ext cx="731520" cy="7315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744968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242048" y="2542032"/>
            <a:ext cx="1719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242048" y="2880360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Centrality, temporal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analysis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92608" y="3520440"/>
            <a:ext cx="8558784" cy="1481328"/>
          </a:xfrm>
          <a:prstGeom prst="rect">
            <a:avLst/>
          </a:prstGeom>
          <a:solidFill>
            <a:srgbClr val="F8F7F5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2920" y="363016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formula  (Project Section 4)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39319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sim(i, j, city, year)  =  v(i) · v(j)  /  ( ||v(i)|| × ||v(j)|| )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02920" y="43708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added if  |{ cities : sim ≥ τ }|  ≥  K          Default parameters: τ = 0.6,   K =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92608" y="118872"/>
            <a:ext cx="1463040" cy="25603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92608" y="1188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RESULTS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92608" y="822960"/>
            <a:ext cx="8558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yearly graphs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92608" y="1371600"/>
            <a:ext cx="8558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= 0.6,  K = 3,  64 nodes (items) in all graphs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2608" y="1691640"/>
            <a:ext cx="2743200" cy="50292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2608" y="1691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2023-24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2608" y="2267712"/>
            <a:ext cx="2743200" cy="502920"/>
          </a:xfrm>
          <a:prstGeom prst="rect">
            <a:avLst/>
          </a:prstGeom>
          <a:solidFill>
            <a:srgbClr val="F8F7F5"/>
          </a:solidFill>
          <a:ln w="635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2336" y="226771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55648" y="2267712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92608" y="2816352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2336" y="281635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55648" y="2816352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0.1151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92608" y="3364992"/>
            <a:ext cx="2743200" cy="502920"/>
          </a:xfrm>
          <a:prstGeom prst="rect">
            <a:avLst/>
          </a:prstGeom>
          <a:solidFill>
            <a:srgbClr val="F8F7F5"/>
          </a:solidFill>
          <a:ln w="635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02336" y="336499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55648" y="3364992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92608" y="3913632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02336" y="391363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degree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55648" y="3913632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92608" y="4462272"/>
            <a:ext cx="2743200" cy="502920"/>
          </a:xfrm>
          <a:prstGeom prst="rect">
            <a:avLst/>
          </a:prstGeom>
          <a:solidFill>
            <a:srgbClr val="F8F7F5"/>
          </a:solidFill>
          <a:ln w="635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02336" y="446227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nodes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755648" y="4462272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92608" y="50749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inflation period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36976" y="1691640"/>
            <a:ext cx="274320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36976" y="1691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2024-25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36976" y="2267712"/>
            <a:ext cx="2743200" cy="502920"/>
          </a:xfrm>
          <a:prstGeom prst="rect">
            <a:avLst/>
          </a:prstGeom>
          <a:solidFill>
            <a:srgbClr val="F8F7F5"/>
          </a:solidFill>
          <a:ln w="635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46704" y="226771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00016" y="2267712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236976" y="2816352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346704" y="281635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00016" y="2816352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0.0432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236976" y="3364992"/>
            <a:ext cx="2743200" cy="502920"/>
          </a:xfrm>
          <a:prstGeom prst="rect">
            <a:avLst/>
          </a:prstGeom>
          <a:solidFill>
            <a:srgbClr val="F8F7F5"/>
          </a:solidFill>
          <a:ln w="635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346704" y="336499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00016" y="3364992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236976" y="3913632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346704" y="391363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degree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00016" y="3913632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2.72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236976" y="4462272"/>
            <a:ext cx="2743200" cy="502920"/>
          </a:xfrm>
          <a:prstGeom prst="rect">
            <a:avLst/>
          </a:prstGeom>
          <a:solidFill>
            <a:srgbClr val="F8F7F5"/>
          </a:solidFill>
          <a:ln w="635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346704" y="446227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nodes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00016" y="4462272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236976" y="50749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contraction  –62%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81344" y="1691640"/>
            <a:ext cx="274320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181344" y="1691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2025-26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181344" y="2267712"/>
            <a:ext cx="2743200" cy="502920"/>
          </a:xfrm>
          <a:prstGeom prst="rect">
            <a:avLst/>
          </a:prstGeom>
          <a:solidFill>
            <a:srgbClr val="F8F7F5"/>
          </a:solidFill>
          <a:ln w="635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291072" y="226771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644384" y="2267712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181344" y="2816352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291072" y="281635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644384" y="2816352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0.0521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6181344" y="3364992"/>
            <a:ext cx="2743200" cy="502920"/>
          </a:xfrm>
          <a:prstGeom prst="rect">
            <a:avLst/>
          </a:prstGeom>
          <a:solidFill>
            <a:srgbClr val="F8F7F5"/>
          </a:solidFill>
          <a:ln w="635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291072" y="336499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644384" y="3364992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6181344" y="3913632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291072" y="391363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degree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644384" y="3913632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3.28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6181344" y="4462272"/>
            <a:ext cx="2743200" cy="502920"/>
          </a:xfrm>
          <a:prstGeom prst="rect">
            <a:avLst/>
          </a:prstGeom>
          <a:solidFill>
            <a:srgbClr val="F8F7F5"/>
          </a:solidFill>
          <a:ln w="635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291072" y="446227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nodes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644384" y="4462272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6181344" y="50749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recovery +21%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92608" y="118872"/>
            <a:ext cx="1463040" cy="25603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92608" y="1188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GRAPHS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92608" y="822960"/>
            <a:ext cx="85587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Co-Movement Networks — All Three Years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92608" y="1261872"/>
            <a:ext cx="8558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colour = category   |   Node size = degree centrality   |   Edge thickness = agreeing cities</a:t>
            </a:r>
            <a:endParaRPr lang="en-US" sz="1000" dirty="0"/>
          </a:p>
        </p:txBody>
      </p:sp>
      <p:pic>
        <p:nvPicPr>
          <p:cNvPr id="8" name="Image 0" descr="/tmp/output/network_Year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600200"/>
            <a:ext cx="2880360" cy="215211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" y="4800600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 (2023-24)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232 edges</a:t>
            </a:r>
            <a:endParaRPr lang="en-US" sz="1000" dirty="0"/>
          </a:p>
        </p:txBody>
      </p:sp>
      <p:pic>
        <p:nvPicPr>
          <p:cNvPr id="10" name="Image 1" descr="/tmp/output/network_Year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112" y="1600200"/>
            <a:ext cx="2880360" cy="21521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182112" y="4800600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 (2024-25)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edges</a:t>
            </a:r>
            <a:endParaRPr lang="en-US" sz="1000" dirty="0"/>
          </a:p>
        </p:txBody>
      </p:sp>
      <p:pic>
        <p:nvPicPr>
          <p:cNvPr id="12" name="Image 2" descr="/tmp/output/network_Year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1600200"/>
            <a:ext cx="2880360" cy="215211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81344" y="4800600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 (2025-26)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edges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92608" y="118872"/>
            <a:ext cx="1463040" cy="25603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92608" y="1188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CENTRALITY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92608" y="822960"/>
            <a:ext cx="8558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Top-12 items by all three centrality measures</a:t>
            </a:r>
            <a:endParaRPr lang="en-US" sz="2600" dirty="0"/>
          </a:p>
        </p:txBody>
      </p:sp>
      <p:pic>
        <p:nvPicPr>
          <p:cNvPr id="7" name="Image 0" descr="/tmp/output/chart1_centr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7313" y="1298448"/>
            <a:ext cx="4309374" cy="34015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2608" y="4800600"/>
            <a:ext cx="8558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= connections count   ·   Closeness = network reach   ·   Betweenness = bridge role between clusters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92608" y="118872"/>
            <a:ext cx="1463040" cy="25603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92608" y="1188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CENTRALITY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92608" y="822960"/>
            <a:ext cx="8558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central items and economic interpretation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92608" y="1737360"/>
            <a:ext cx="8558784" cy="960120"/>
          </a:xfrm>
          <a:prstGeom prst="rect">
            <a:avLst/>
          </a:prstGeom>
          <a:solidFill>
            <a:srgbClr val="F8F7F5"/>
          </a:solidFill>
          <a:ln w="635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92608" y="1737360"/>
            <a:ext cx="457200" cy="96012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2608" y="1737360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1783080"/>
            <a:ext cx="7918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 2023-24 — Cooked Daal  (deg = 0.333)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" y="2057400"/>
            <a:ext cx="791870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direct connections. Street food price aggregates pressures from cereals, oils, meat and energy — became the broadest price-signal during peak inflation.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" y="2816352"/>
            <a:ext cx="8558784" cy="960120"/>
          </a:xfrm>
          <a:prstGeom prst="rect">
            <a:avLst/>
          </a:prstGeom>
          <a:solidFill>
            <a:srgbClr val="F8F7F5"/>
          </a:solidFill>
          <a:ln w="635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92608" y="2816352"/>
            <a:ext cx="457200" cy="960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92608" y="2816352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862072"/>
            <a:ext cx="7918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 2024-25 — Mustard Oil  (betw = 0.357)  &amp;  Garlic  (betw = 0.360)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3136392"/>
            <a:ext cx="791870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bridge items. As the network fragmented, these items were the only connections between otherwise isolated clusters of food and fuel prices.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2608" y="3895344"/>
            <a:ext cx="8558784" cy="960120"/>
          </a:xfrm>
          <a:prstGeom prst="rect">
            <a:avLst/>
          </a:prstGeom>
          <a:solidFill>
            <a:srgbClr val="F8F7F5"/>
          </a:solidFill>
          <a:ln w="635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92608" y="3895344"/>
            <a:ext cx="457200" cy="960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92608" y="3895344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" y="3941064"/>
            <a:ext cx="7918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 2025-26 — Bananas  (betw = 0.246)  &amp;  Beef  (deg = 0.159)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" y="4215384"/>
            <a:ext cx="791870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produce and protein both became hubs. Bananas bridged agricultural and non-agricultural clusters — unusual, suggesting supply-chain disruption.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2608" y="4983480"/>
            <a:ext cx="8558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Stability: Petrol Super, Cooked Daal, Mustard Oil, Beef with Bone, Curd (Dahi) — all appeared in top-10 in at least 2 of 3 years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92608" y="118872"/>
            <a:ext cx="1463040" cy="25603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92608" y="1188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92608" y="822960"/>
            <a:ext cx="8558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evolution across 3 years</a:t>
            </a:r>
            <a:endParaRPr lang="en-US" sz="2600" dirty="0"/>
          </a:p>
        </p:txBody>
      </p:sp>
      <p:pic>
        <p:nvPicPr>
          <p:cNvPr id="7" name="Image 0" descr="/tmp/output/chart2_temp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298448"/>
            <a:ext cx="8741664" cy="252590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92608" y="4590288"/>
            <a:ext cx="274320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92608" y="45902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-207 edges lost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→ Year 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36976" y="4590288"/>
            <a:ext cx="274320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236976" y="45902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persistent pairs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2.7% of all edges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81344" y="4590288"/>
            <a:ext cx="274320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181344" y="45902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+87 new edges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→ Year 3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92608" y="118872"/>
            <a:ext cx="1463040" cy="25603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92608" y="1188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92608" y="822960"/>
            <a:ext cx="8558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permanently co-moving pairs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92608" y="1371600"/>
            <a:ext cx="8558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in all 3 years — structurally linked by supply chain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2608" y="1719072"/>
            <a:ext cx="4279392" cy="548640"/>
          </a:xfrm>
          <a:prstGeom prst="rect">
            <a:avLst/>
          </a:prstGeom>
          <a:solidFill>
            <a:srgbClr val="F8F7F5"/>
          </a:solidFill>
          <a:ln w="635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4048" y="1847088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68096" y="175564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 Super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77440" y="175564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88336" y="17556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Hi-Speed Diesel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68096" y="20299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2608" y="2359152"/>
            <a:ext cx="4279392" cy="548640"/>
          </a:xfrm>
          <a:prstGeom prst="rect">
            <a:avLst/>
          </a:prstGeom>
          <a:solidFill>
            <a:srgbClr val="F8F7F5"/>
          </a:solidFill>
          <a:ln w="635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84048" y="2487168"/>
            <a:ext cx="292608" cy="29260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8096" y="23957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Refined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77440" y="239572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88336" y="23957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 (Average Quality)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8096" y="267004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substitutes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92608" y="2999232"/>
            <a:ext cx="4279392" cy="548640"/>
          </a:xfrm>
          <a:prstGeom prst="rect">
            <a:avLst/>
          </a:prstGeom>
          <a:solidFill>
            <a:srgbClr val="F8F7F5"/>
          </a:solidFill>
          <a:ln w="635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84048" y="3127248"/>
            <a:ext cx="292608" cy="292608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68096" y="303580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fresh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377440" y="303580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88336" y="303580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Curd (Dahi) Loose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68096" y="33101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chain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92608" y="3639312"/>
            <a:ext cx="4279392" cy="548640"/>
          </a:xfrm>
          <a:prstGeom prst="rect">
            <a:avLst/>
          </a:prstGeom>
          <a:solidFill>
            <a:srgbClr val="F8F7F5"/>
          </a:solidFill>
          <a:ln w="635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84048" y="3767328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68096" y="367588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Masoor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377440" y="367588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88336" y="36758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Mash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68096" y="395020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substitutes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92608" y="4279392"/>
            <a:ext cx="4279392" cy="548640"/>
          </a:xfrm>
          <a:prstGeom prst="rect">
            <a:avLst/>
          </a:prstGeom>
          <a:solidFill>
            <a:srgbClr val="F8F7F5"/>
          </a:solidFill>
          <a:ln w="635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84048" y="4407408"/>
            <a:ext cx="292608" cy="292608"/>
          </a:xfrm>
          <a:prstGeom prst="ellipse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68096" y="431596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Oil DALDA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377440" y="431596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688336" y="43159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Vegetable Ghee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68096" y="45902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Edible oils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73168" y="1719072"/>
            <a:ext cx="4279392" cy="548640"/>
          </a:xfrm>
          <a:prstGeom prst="rect">
            <a:avLst/>
          </a:prstGeom>
          <a:solidFill>
            <a:srgbClr val="F8F7F5"/>
          </a:solidFill>
          <a:ln w="635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864608" y="1847088"/>
            <a:ext cx="292608" cy="29260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248656" y="175564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Beef with Bone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58000" y="175564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168896" y="17556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Mutton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48656" y="20299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Meat substitutes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73168" y="2359152"/>
            <a:ext cx="4279392" cy="548640"/>
          </a:xfrm>
          <a:prstGeom prst="rect">
            <a:avLst/>
          </a:prstGeom>
          <a:solidFill>
            <a:srgbClr val="F8F7F5"/>
          </a:solidFill>
          <a:ln w="635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864608" y="2487168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248656" y="23957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Mustard Oil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858000" y="239572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168896" y="23957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Vegetable Ghee 2.5 kg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248656" y="267004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fats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73168" y="2999232"/>
            <a:ext cx="4279392" cy="548640"/>
          </a:xfrm>
          <a:prstGeom prst="rect">
            <a:avLst/>
          </a:prstGeom>
          <a:solidFill>
            <a:srgbClr val="F8F7F5"/>
          </a:solidFill>
          <a:ln w="635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864608" y="3127248"/>
            <a:ext cx="292608" cy="29260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248656" y="303580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Lawn Printed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858000" y="303580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168896" y="303580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Shirting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248656" y="33101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fabrics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773168" y="3639312"/>
            <a:ext cx="4279392" cy="548640"/>
          </a:xfrm>
          <a:prstGeom prst="rect">
            <a:avLst/>
          </a:prstGeom>
          <a:solidFill>
            <a:srgbClr val="F8F7F5"/>
          </a:solidFill>
          <a:ln w="635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864608" y="3767328"/>
            <a:ext cx="292608" cy="29260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248656" y="367588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Lawn Printed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858000" y="367588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7168896" y="36758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Cloth 57"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248656" y="395020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brand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773168" y="4279392"/>
            <a:ext cx="4279392" cy="548640"/>
          </a:xfrm>
          <a:prstGeom prst="rect">
            <a:avLst/>
          </a:prstGeom>
          <a:solidFill>
            <a:srgbClr val="F8F7F5"/>
          </a:solidFill>
          <a:ln w="635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864608" y="4407408"/>
            <a:ext cx="292608" cy="29260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248656" y="431596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Georgette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858000" y="431596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7168896" y="43159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Shirting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5248656" y="45902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substitutes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92608" y="118872"/>
            <a:ext cx="1463040" cy="25603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92608" y="1188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92608" y="822960"/>
            <a:ext cx="8558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69–75% of edges cross category boundaries</a:t>
            </a:r>
            <a:endParaRPr lang="en-US" sz="2600" dirty="0"/>
          </a:p>
        </p:txBody>
      </p:sp>
      <p:pic>
        <p:nvPicPr>
          <p:cNvPr id="7" name="Image 0" descr="/tmp/output/chart4_catego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627632"/>
            <a:ext cx="5303520" cy="1580037"/>
          </a:xfrm>
          <a:prstGeom prst="rect">
            <a:avLst/>
          </a:prstGeom>
        </p:spPr>
      </p:pic>
      <p:pic>
        <p:nvPicPr>
          <p:cNvPr id="8" name="Image 1" descr="/tmp/output/chart7_weighting_schem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1627632"/>
            <a:ext cx="3255264" cy="14636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1168" y="3803904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chart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669280" y="3803904"/>
            <a:ext cx="3255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weighting schemes side by side (Year 1)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92608" y="4187952"/>
            <a:ext cx="2743200" cy="47548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292608" y="418795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1: 75%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cross-category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236976" y="4187952"/>
            <a:ext cx="2743200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3236976" y="418795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2: 69%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cross-category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81344" y="4187952"/>
            <a:ext cx="274320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181344" y="418795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3: 71%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cross-category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92608" y="4773168"/>
            <a:ext cx="8558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shocks in Pakistan systematically cross category boundaries — fuel affects food, food affects clothing, clothing affects health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92608" y="118872"/>
            <a:ext cx="1463040" cy="25603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92608" y="1188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92608" y="822960"/>
            <a:ext cx="8558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varying τ and K on graph structure</a:t>
            </a:r>
            <a:endParaRPr lang="en-US" sz="2600" dirty="0"/>
          </a:p>
        </p:txBody>
      </p:sp>
      <p:pic>
        <p:nvPicPr>
          <p:cNvPr id="7" name="Image 0" descr="/tmp/output/chart3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298448"/>
            <a:ext cx="8741664" cy="243372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92608" y="4206240"/>
            <a:ext cx="16459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30352" y="420624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drives density: raising from 0.4→0.5 cuts Year 1 edges from 105 to 44 — the biggest single drop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92608" y="4480560"/>
            <a:ext cx="16459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30352" y="448056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has little effect at τ ≥ 0.6 because very few pairs achieve high similarity in any city at all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92608" y="4754880"/>
            <a:ext cx="164592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30352" y="475488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weighting schemes produce identical topology — only edge thickness and betweenness rankings differ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92608" y="118872"/>
            <a:ext cx="1463040" cy="25603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92608" y="1188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92608" y="822960"/>
            <a:ext cx="8558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findings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92608" y="1719072"/>
            <a:ext cx="8558784" cy="566928"/>
          </a:xfrm>
          <a:prstGeom prst="rect">
            <a:avLst/>
          </a:prstGeom>
          <a:solidFill>
            <a:srgbClr val="F8F7F5"/>
          </a:solidFill>
          <a:ln w="635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92608" y="1719072"/>
            <a:ext cx="457200" cy="56692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2608" y="1719072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1764792"/>
            <a:ext cx="7918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synchronises markets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" y="2039112"/>
            <a:ext cx="7918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had 232 edges — 2.67x more than Year 2. Generalised inflation forces unrelated items to move together.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" y="2377440"/>
            <a:ext cx="8558784" cy="566928"/>
          </a:xfrm>
          <a:prstGeom prst="rect">
            <a:avLst/>
          </a:prstGeom>
          <a:solidFill>
            <a:srgbClr val="F8F7F5"/>
          </a:solidFill>
          <a:ln w="635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92608" y="2377440"/>
            <a:ext cx="457200" cy="56692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92608" y="237744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423160"/>
            <a:ext cx="7918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permanently linked commodity pairs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2697480"/>
            <a:ext cx="7918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Petrol/Diesel, Sugar/Gur, Milk/Curd, Pulses, Oils, Meat — co-move in all 3 years regardless of economic conditions.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2608" y="3035808"/>
            <a:ext cx="8558784" cy="566928"/>
          </a:xfrm>
          <a:prstGeom prst="rect">
            <a:avLst/>
          </a:prstGeom>
          <a:solidFill>
            <a:srgbClr val="F8F7F5"/>
          </a:solidFill>
          <a:ln w="635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92608" y="3035808"/>
            <a:ext cx="457200" cy="5669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92608" y="303580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" y="3081528"/>
            <a:ext cx="7918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of edges cross category boundaries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" y="3355848"/>
            <a:ext cx="7918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shocks are systemic in Pakistan — fuel costs ripple into food, clothing, and health simultaneously.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2608" y="3694176"/>
            <a:ext cx="8558784" cy="566928"/>
          </a:xfrm>
          <a:prstGeom prst="rect">
            <a:avLst/>
          </a:prstGeom>
          <a:solidFill>
            <a:srgbClr val="F8F7F5"/>
          </a:solidFill>
          <a:ln w="635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92608" y="3694176"/>
            <a:ext cx="457200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92608" y="3694176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1248" y="3739896"/>
            <a:ext cx="7918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Betweenness reveals economic bridges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1248" y="4014216"/>
            <a:ext cx="7918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Mustard Oil (Year 2) and Bananas (Year 3) were structural bridges — disrupting them would fragment the network.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92608" y="4352544"/>
            <a:ext cx="8558784" cy="566928"/>
          </a:xfrm>
          <a:prstGeom prst="rect">
            <a:avLst/>
          </a:prstGeom>
          <a:solidFill>
            <a:srgbClr val="F8F7F5"/>
          </a:solidFill>
          <a:ln w="635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92608" y="4352544"/>
            <a:ext cx="457200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92608" y="4352544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41248" y="4398264"/>
            <a:ext cx="7918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is the dominant parameter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1248" y="4672584"/>
            <a:ext cx="7918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threshold τ controls network density far more than K. At τ ≥ 0.6, K becomes redundant.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" y="3520440"/>
            <a:ext cx="896112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6400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84048" y="1600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  pbs.gov.pk/price-statistics/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" y="1901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    Python · pandas · NumPy · NetworkX · Matplotlib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22037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" y="2788920"/>
            <a:ext cx="1965960" cy="1325880"/>
          </a:xfrm>
          <a:prstGeom prst="rect">
            <a:avLst/>
          </a:prstGeom>
          <a:solidFill>
            <a:srgbClr val="141414"/>
          </a:solidFill>
          <a:ln w="9525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28803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232</a:t>
            </a:r>
            <a:endParaRPr lang="en-US" sz="1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1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4048" y="354787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per year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32888" y="2788920"/>
            <a:ext cx="1965960" cy="1325880"/>
          </a:xfrm>
          <a:prstGeom prst="rect">
            <a:avLst/>
          </a:prstGeom>
          <a:solidFill>
            <a:srgbClr val="141414"/>
          </a:solidFill>
          <a:ln w="9525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32888" y="28803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32888" y="354787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pairs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81728" y="2788920"/>
            <a:ext cx="1965960" cy="1325880"/>
          </a:xfrm>
          <a:prstGeom prst="rect">
            <a:avLst/>
          </a:prstGeom>
          <a:solidFill>
            <a:srgbClr val="141414"/>
          </a:solidFill>
          <a:ln w="9525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81728" y="28803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31,212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81728" y="354787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30568" y="2788920"/>
            <a:ext cx="1965960" cy="1325880"/>
          </a:xfrm>
          <a:prstGeom prst="rect">
            <a:avLst/>
          </a:prstGeom>
          <a:solidFill>
            <a:srgbClr val="141414"/>
          </a:solidFill>
          <a:ln w="9525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30568" y="28803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· 17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830568" y="354787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· cities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" y="477316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Mathematics  |  April 2026  |  PBS CPI Data 2023–2026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A3A3A"/>
      </a:dk2>
      <a:lt2>
        <a:srgbClr val="E7E6E6"/>
      </a:lt2>
      <a:accent1>
        <a:srgbClr val="B8860B"/>
      </a:accent1>
      <a:accent2>
        <a:srgbClr val="ED7D31"/>
      </a:accent2>
      <a:accent3>
        <a:srgbClr val="A5A5A5"/>
      </a:accent3>
      <a:accent4>
        <a:srgbClr val="FFC000"/>
      </a:accent4>
      <a:accent5>
        <a:srgbClr val="C9A84C"/>
      </a:accent5>
      <a:accent6>
        <a:srgbClr val="70AD47"/>
      </a:accent6>
      <a:hlink>
        <a:srgbClr val="A07820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1004</Words>
  <Application>Microsoft Office PowerPoint</Application>
  <PresentationFormat>On-screen Show (16:9)</PresentationFormat>
  <Paragraphs>236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Rameen Azhar</cp:lastModifiedBy>
  <cp:revision>2</cp:revision>
  <dcterms:created xsi:type="dcterms:W3CDTF">2026-05-02T08:05:55Z</dcterms:created>
  <dcterms:modified xsi:type="dcterms:W3CDTF">2026-05-05T17:33:19Z</dcterms:modified>
</cp:coreProperties>
</file>